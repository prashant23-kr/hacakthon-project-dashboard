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Monthly Rent by Store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Rent by Store</c:v>
                </c:pt>
              </c:strCache>
            </c:strRef>
          </c:tx>
          <c:spPr>
            <a:solidFill>
              <a:srgbClr val="F28C28"/>
            </a:solidFill>
            <a:ln>
              <a:solidFill>
                <a:srgbClr val="F28C28"/>
              </a:solidFill>
            </a:ln>
          </c:spPr>
          <c:dLbls>
            <c:txPr>
              <a:bodyPr/>
              <a:lstStyle/>
              <a:p>
                <a:pPr>
                  <a:defRPr sz="80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Sector 44 Metro</c:v>
                </c:pt>
                <c:pt idx="1">
                  <c:v>Sector 137 Riverside</c:v>
                </c:pt>
                <c:pt idx="2">
                  <c:v>Sector 76 Central</c:v>
                </c:pt>
                <c:pt idx="3">
                  <c:v>Sector 18 Hub</c:v>
                </c:pt>
                <c:pt idx="4">
                  <c:v>Sector 150 Sports City</c:v>
                </c:pt>
                <c:pt idx="5">
                  <c:v>Sector 51 Junction</c:v>
                </c:pt>
                <c:pt idx="6">
                  <c:v>Sector 62 Express</c:v>
                </c:pt>
                <c:pt idx="7">
                  <c:v>Noida Extension North</c:v>
                </c:pt>
                <c:pt idx="8">
                  <c:v>Greater Noida Alpha</c:v>
                </c:pt>
                <c:pt idx="9">
                  <c:v>Sector 104 Gardens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228000</c:v>
                </c:pt>
                <c:pt idx="1">
                  <c:v>196000</c:v>
                </c:pt>
                <c:pt idx="2">
                  <c:v>181000</c:v>
                </c:pt>
                <c:pt idx="3">
                  <c:v>178000</c:v>
                </c:pt>
                <c:pt idx="4">
                  <c:v>172000</c:v>
                </c:pt>
                <c:pt idx="5">
                  <c:v>165000</c:v>
                </c:pt>
                <c:pt idx="6">
                  <c:v>162000</c:v>
                </c:pt>
                <c:pt idx="7">
                  <c:v>158000</c:v>
                </c:pt>
                <c:pt idx="8">
                  <c:v>152000</c:v>
                </c:pt>
                <c:pt idx="9">
                  <c:v>146000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2C5D80"/>
            </a:solidFill>
          </a:ln>
        </c:spPr>
        <c:txPr>
          <a:bodyPr/>
          <a:lstStyle/>
          <a:p>
            <a:pPr>
              <a:defRPr sz="800">
                <a:solidFill>
                  <a:srgbClr val="BBD0E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spPr>
          <a:ln>
            <a:solidFill>
              <a:srgbClr val="2C5D80"/>
            </a:solidFill>
          </a:ln>
        </c:spPr>
        <c:txPr>
          <a:bodyPr/>
          <a:lstStyle/>
          <a:p>
            <a:pPr>
              <a:defRPr sz="800">
                <a:solidFill>
                  <a:srgbClr val="BBD0E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Cold Storage Capacity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Cold Storage Capacity</c:v>
                </c:pt>
              </c:strCache>
            </c:strRef>
          </c:tx>
          <c:spPr>
            <a:solidFill>
              <a:srgbClr val="18C8D8"/>
            </a:solidFill>
            <a:ln>
              <a:solidFill>
                <a:srgbClr val="18C8D8"/>
              </a:solidFill>
            </a:ln>
          </c:spPr>
          <c:dLbls>
            <c:txPr>
              <a:bodyPr/>
              <a:lstStyle/>
              <a:p>
                <a:pPr>
                  <a:defRPr sz="80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Sector 18 Hub</c:v>
                </c:pt>
                <c:pt idx="1">
                  <c:v>Sector 62 Express</c:v>
                </c:pt>
                <c:pt idx="2">
                  <c:v>Sector 137 Riverside</c:v>
                </c:pt>
                <c:pt idx="3">
                  <c:v>Greater Noida Alpha</c:v>
                </c:pt>
                <c:pt idx="4">
                  <c:v>Sector 76 Central</c:v>
                </c:pt>
                <c:pt idx="5">
                  <c:v>Noida Extension North</c:v>
                </c:pt>
                <c:pt idx="6">
                  <c:v>Sector 44 Metro</c:v>
                </c:pt>
                <c:pt idx="7">
                  <c:v>Sector 104 Gardens</c:v>
                </c:pt>
                <c:pt idx="8">
                  <c:v>Sector 150 Sports City</c:v>
                </c:pt>
                <c:pt idx="9">
                  <c:v>Sector 51 Junction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900</c:v>
                </c:pt>
                <c:pt idx="1">
                  <c:v>800</c:v>
                </c:pt>
                <c:pt idx="2">
                  <c:v>850</c:v>
                </c:pt>
                <c:pt idx="3">
                  <c:v>820</c:v>
                </c:pt>
                <c:pt idx="4">
                  <c:v>700</c:v>
                </c:pt>
                <c:pt idx="5">
                  <c:v>950</c:v>
                </c:pt>
                <c:pt idx="6">
                  <c:v>380</c:v>
                </c:pt>
                <c:pt idx="7">
                  <c:v>700</c:v>
                </c:pt>
                <c:pt idx="8">
                  <c:v>830</c:v>
                </c:pt>
                <c:pt idx="9">
                  <c:v>760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2C5D80"/>
            </a:solidFill>
          </a:ln>
        </c:spPr>
        <c:txPr>
          <a:bodyPr/>
          <a:lstStyle/>
          <a:p>
            <a:pPr>
              <a:defRPr sz="800">
                <a:solidFill>
                  <a:srgbClr val="BBD0E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spPr>
          <a:ln>
            <a:solidFill>
              <a:srgbClr val="2C5D80"/>
            </a:solidFill>
          </a:ln>
        </c:spPr>
        <c:txPr>
          <a:bodyPr/>
          <a:lstStyle/>
          <a:p>
            <a:pPr>
              <a:defRPr sz="800">
                <a:solidFill>
                  <a:srgbClr val="BBD0E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Staff Count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Staff Count</c:v>
                </c:pt>
              </c:strCache>
            </c:strRef>
          </c:tx>
          <c:spPr>
            <a:solidFill>
              <a:srgbClr val="7667E8"/>
            </a:solidFill>
            <a:ln>
              <a:solidFill>
                <a:srgbClr val="7667E8"/>
              </a:solidFill>
            </a:ln>
          </c:spPr>
          <c:dLbls>
            <c:txPr>
              <a:bodyPr/>
              <a:lstStyle/>
              <a:p>
                <a:pPr>
                  <a:defRPr sz="80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Sector 18 Hub</c:v>
                </c:pt>
                <c:pt idx="1">
                  <c:v>Sector 62 Express</c:v>
                </c:pt>
                <c:pt idx="2">
                  <c:v>Sector 137 Riverside</c:v>
                </c:pt>
                <c:pt idx="3">
                  <c:v>Greater Noida Alpha</c:v>
                </c:pt>
                <c:pt idx="4">
                  <c:v>Sector 76 Central</c:v>
                </c:pt>
                <c:pt idx="5">
                  <c:v>Noida Extension North</c:v>
                </c:pt>
                <c:pt idx="6">
                  <c:v>Sector 44 Metro</c:v>
                </c:pt>
                <c:pt idx="7">
                  <c:v>Sector 104 Gardens</c:v>
                </c:pt>
                <c:pt idx="8">
                  <c:v>Sector 150 Sports City</c:v>
                </c:pt>
                <c:pt idx="9">
                  <c:v>Sector 51 Junction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</c:v>
                </c:pt>
                <c:pt idx="1">
                  <c:v>12</c:v>
                </c:pt>
                <c:pt idx="2">
                  <c:v>13</c:v>
                </c:pt>
                <c:pt idx="3">
                  <c:v>12</c:v>
                </c:pt>
                <c:pt idx="4">
                  <c:v>11</c:v>
                </c:pt>
                <c:pt idx="5">
                  <c:v>15</c:v>
                </c:pt>
                <c:pt idx="6">
                  <c:v>16</c:v>
                </c:pt>
                <c:pt idx="7">
                  <c:v>0</c:v>
                </c:pt>
                <c:pt idx="8">
                  <c:v>13</c:v>
                </c:pt>
                <c:pt idx="9">
                  <c:v>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2C5D80"/>
            </a:solidFill>
          </a:ln>
        </c:spPr>
        <c:txPr>
          <a:bodyPr/>
          <a:lstStyle/>
          <a:p>
            <a:pPr>
              <a:defRPr sz="800">
                <a:solidFill>
                  <a:srgbClr val="BBD0E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spPr>
          <a:ln>
            <a:solidFill>
              <a:srgbClr val="2C5D80"/>
            </a:solidFill>
          </a:ln>
        </c:spPr>
        <c:txPr>
          <a:bodyPr/>
          <a:lstStyle/>
          <a:p>
            <a:pPr>
              <a:defRPr sz="800">
                <a:solidFill>
                  <a:srgbClr val="BBD0E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Rent per Sqft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Rent per Sqft</c:v>
                </c:pt>
              </c:strCache>
            </c:strRef>
          </c:tx>
          <c:spPr>
            <a:solidFill>
              <a:srgbClr val="D64D78"/>
            </a:solidFill>
            <a:ln>
              <a:solidFill>
                <a:srgbClr val="D64D78"/>
              </a:solidFill>
            </a:ln>
          </c:spPr>
          <c:dLbls>
            <c:txPr>
              <a:bodyPr/>
              <a:lstStyle/>
              <a:p>
                <a:pPr>
                  <a:defRPr sz="80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Sector 76 Central</c:v>
                </c:pt>
                <c:pt idx="1">
                  <c:v>Sector 44 Metro</c:v>
                </c:pt>
                <c:pt idx="2">
                  <c:v>Sector 137 Riverside</c:v>
                </c:pt>
                <c:pt idx="3">
                  <c:v>Sector 51 Junction</c:v>
                </c:pt>
                <c:pt idx="4">
                  <c:v>Sector 104 Gardens</c:v>
                </c:pt>
                <c:pt idx="5">
                  <c:v>Sector 62 Express</c:v>
                </c:pt>
                <c:pt idx="6">
                  <c:v>Sector 18 Hub</c:v>
                </c:pt>
                <c:pt idx="7">
                  <c:v>Sector 150 Sports City</c:v>
                </c:pt>
                <c:pt idx="8">
                  <c:v>Greater Noida Alpha</c:v>
                </c:pt>
                <c:pt idx="9">
                  <c:v>Noida Extension North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100.56</c:v>
                </c:pt>
                <c:pt idx="1">
                  <c:v>95.0</c:v>
                </c:pt>
                <c:pt idx="2">
                  <c:v>93.33</c:v>
                </c:pt>
                <c:pt idx="3">
                  <c:v>89.19</c:v>
                </c:pt>
                <c:pt idx="4">
                  <c:v>85.88</c:v>
                </c:pt>
                <c:pt idx="5">
                  <c:v>85.26</c:v>
                </c:pt>
                <c:pt idx="6">
                  <c:v>80.91</c:v>
                </c:pt>
                <c:pt idx="7">
                  <c:v>80.0</c:v>
                </c:pt>
                <c:pt idx="8">
                  <c:v>76.0</c:v>
                </c:pt>
                <c:pt idx="9">
                  <c:v>68.7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2C5D80"/>
            </a:solidFill>
          </a:ln>
        </c:spPr>
        <c:txPr>
          <a:bodyPr/>
          <a:lstStyle/>
          <a:p>
            <a:pPr>
              <a:defRPr sz="800">
                <a:solidFill>
                  <a:srgbClr val="BBD0E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spPr>
          <a:ln>
            <a:solidFill>
              <a:srgbClr val="2C5D80"/>
            </a:solidFill>
          </a:ln>
        </c:spPr>
        <c:txPr>
          <a:bodyPr/>
          <a:lstStyle/>
          <a:p>
            <a:pPr>
              <a:defRPr sz="800">
                <a:solidFill>
                  <a:srgbClr val="BBD0E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63240" cy="109728"/>
          </a:xfrm>
          <a:prstGeom prst="rect">
            <a:avLst/>
          </a:prstGeom>
          <a:solidFill>
            <a:srgbClr val="2F8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4952" y="0"/>
            <a:ext cx="3063240" cy="109728"/>
          </a:xfrm>
          <a:prstGeom prst="rect">
            <a:avLst/>
          </a:prstGeom>
          <a:solidFill>
            <a:srgbClr val="18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89904" y="0"/>
            <a:ext cx="3063240" cy="109728"/>
          </a:xfrm>
          <a:prstGeom prst="rect">
            <a:avLst/>
          </a:prstGeom>
          <a:solidFill>
            <a:srgbClr val="766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34856" y="0"/>
            <a:ext cx="3063240" cy="10972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 Display"/>
              </a:rPr>
              <a:t>DARK 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18C8D8"/>
                </a:solidFill>
                <a:latin typeface="Aptos Display"/>
              </a:rPr>
              <a:t>PERFORMANCE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06040"/>
            <a:ext cx="9875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BBD0E3"/>
                </a:solidFill>
                <a:latin typeface="Aptos"/>
              </a:rPr>
              <a:t>Interactive Excel Dashboard • Business Intelligence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794760"/>
            <a:ext cx="2057400" cy="1143000"/>
          </a:xfrm>
          <a:prstGeom prst="roundRect">
            <a:avLst/>
          </a:prstGeom>
          <a:solidFill>
            <a:srgbClr val="0E416B"/>
          </a:solidFill>
          <a:ln w="1905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04488"/>
            <a:ext cx="1783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Stores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33672"/>
            <a:ext cx="1783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18B7A0"/>
                </a:solidFill>
                <a:latin typeface="Aptos Display"/>
              </a:rP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53512" y="3794760"/>
            <a:ext cx="2057400" cy="1143000"/>
          </a:xfrm>
          <a:prstGeom prst="roundRect">
            <a:avLst/>
          </a:prstGeom>
          <a:solidFill>
            <a:srgbClr val="0E416B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0672" y="3904488"/>
            <a:ext cx="1783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Monthly Rent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4233672"/>
            <a:ext cx="1783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F28C28"/>
                </a:solidFill>
                <a:latin typeface="Aptos Display"/>
              </a:rPr>
              <a:t>₹1,738,000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21224" y="3794760"/>
            <a:ext cx="2057400" cy="1143000"/>
          </a:xfrm>
          <a:prstGeom prst="roundRect">
            <a:avLst/>
          </a:prstGeom>
          <a:solidFill>
            <a:srgbClr val="0E416B"/>
          </a:solidFill>
          <a:ln w="19050">
            <a:solidFill>
              <a:srgbClr val="2F8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58384" y="3904488"/>
            <a:ext cx="1783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Avg Store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8384" y="4233672"/>
            <a:ext cx="1783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2F8EF3"/>
                </a:solidFill>
                <a:latin typeface="Aptos Display"/>
              </a:rPr>
              <a:t>2,040 sqft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88936" y="3794760"/>
            <a:ext cx="2057400" cy="1143000"/>
          </a:xfrm>
          <a:prstGeom prst="roundRect">
            <a:avLst/>
          </a:prstGeom>
          <a:solidFill>
            <a:srgbClr val="0E416B"/>
          </a:solidFill>
          <a:ln w="19050">
            <a:solidFill>
              <a:srgbClr val="766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6096" y="3904488"/>
            <a:ext cx="1783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Staff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6096" y="4233672"/>
            <a:ext cx="1783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7667E8"/>
                </a:solidFill>
                <a:latin typeface="Aptos Display"/>
              </a:rPr>
              <a:t>118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56648" y="3794760"/>
            <a:ext cx="2057400" cy="1143000"/>
          </a:xfrm>
          <a:prstGeom prst="roundRect">
            <a:avLst/>
          </a:prstGeom>
          <a:solidFill>
            <a:srgbClr val="0E416B"/>
          </a:solidFill>
          <a:ln w="19050">
            <a:solidFill>
              <a:srgbClr val="D6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93808" y="3904488"/>
            <a:ext cx="1783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Cold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93808" y="4233672"/>
            <a:ext cx="1783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D64D78"/>
                </a:solidFill>
                <a:latin typeface="Aptos Display"/>
              </a:rPr>
              <a:t>7,690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897880"/>
            <a:ext cx="10789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BBD0E3"/>
                </a:solidFill>
                <a:latin typeface="Aptos"/>
              </a:rPr>
              <a:t>Prepared for Hackathon / Project 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BBD0E3"/>
                </a:solidFill>
                <a:latin typeface="Aptos"/>
              </a:rPr>
              <a:t>DARK STORE ANALYTICS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BBD0E3"/>
                </a:solidFill>
                <a:latin typeface="Aptos"/>
              </a:rPr>
              <a:t>Turning dark-store master data into an executive-friendly analytics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74720" cy="1234440"/>
          </a:xfrm>
          <a:prstGeom prst="roundRect">
            <a:avLst/>
          </a:prstGeom>
          <a:solidFill>
            <a:srgbClr val="0E416B"/>
          </a:solidFill>
          <a:ln w="19050">
            <a:solidFill>
              <a:srgbClr val="18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27048"/>
            <a:ext cx="3200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BUSINESS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56232"/>
            <a:ext cx="3200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18C8D8"/>
                </a:solidFill>
                <a:latin typeface="Aptos Display"/>
              </a:rPr>
              <a:t>How are stores performing?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17320"/>
            <a:ext cx="3474720" cy="1234440"/>
          </a:xfrm>
          <a:prstGeom prst="roundRect">
            <a:avLst/>
          </a:prstGeom>
          <a:solidFill>
            <a:srgbClr val="0E416B"/>
          </a:solidFill>
          <a:ln w="19050">
            <a:solidFill>
              <a:srgbClr val="766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1527048"/>
            <a:ext cx="3200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DATA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1856232"/>
            <a:ext cx="3200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7667E8"/>
                </a:solidFill>
                <a:latin typeface="Aptos Display"/>
              </a:rPr>
              <a:t>Rent • Size • Staff • Storage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3" y="1417320"/>
            <a:ext cx="3474720" cy="1234440"/>
          </a:xfrm>
          <a:prstGeom prst="roundRect">
            <a:avLst/>
          </a:prstGeom>
          <a:solidFill>
            <a:srgbClr val="0E416B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38744" y="1527048"/>
            <a:ext cx="3200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38744" y="1856232"/>
            <a:ext cx="32004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F28C28"/>
                </a:solidFill>
                <a:latin typeface="Aptos Display"/>
              </a:rPr>
              <a:t>Interactive Excel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63240"/>
            <a:ext cx="10332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Consolidate store-level operational and financial information.</a:t>
            </a:r>
          </a:p>
          <a:p>
            <a:pPr>
              <a:spcAft>
                <a:spcPts val="9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Create KPI cards for quick executive monitoring.</a:t>
            </a:r>
          </a:p>
          <a:p>
            <a:pPr>
              <a:spcAft>
                <a:spcPts val="9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Compare monthly rent, store area, staffing and cold-storage capacity.</a:t>
            </a:r>
          </a:p>
          <a:p>
            <a:pPr>
              <a:spcAft>
                <a:spcPts val="9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Use PivotTables, PivotCharts and a store slicer for interaction.</a:t>
            </a:r>
          </a:p>
          <a:p>
            <a:pPr>
              <a:spcAft>
                <a:spcPts val="9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Present insights in a clean, decision-oriented visual format.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BBD0E3"/>
                </a:solidFill>
                <a:latin typeface="Aptos"/>
              </a:rPr>
              <a:t>DARK STORE ANALYTICS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Data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BBD0E3"/>
                </a:solidFill>
                <a:latin typeface="Aptos"/>
              </a:rPr>
              <a:t>Source data was organized into an analysis-ready Excel workbook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965960" cy="1828800"/>
          </a:xfrm>
          <a:prstGeom prst="roundRect">
            <a:avLst/>
          </a:prstGeom>
          <a:solidFill>
            <a:srgbClr val="0E416B"/>
          </a:solidFill>
          <a:ln>
            <a:solidFill>
              <a:srgbClr val="2F8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673352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2F8EF3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57400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14600"/>
            <a:ext cx="16002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BBD0E3"/>
                </a:solidFill>
                <a:latin typeface="Aptos"/>
              </a:rPr>
              <a:t>Dark-store master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554480"/>
            <a:ext cx="1965960" cy="1828800"/>
          </a:xfrm>
          <a:prstGeom prst="roundRect">
            <a:avLst/>
          </a:prstGeom>
          <a:solidFill>
            <a:srgbClr val="0E416B"/>
          </a:solidFill>
          <a:ln>
            <a:solidFill>
              <a:srgbClr val="18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35808" y="1673352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8C8D8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2057400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CLEAN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514600"/>
            <a:ext cx="16002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BBD0E3"/>
                </a:solidFill>
                <a:latin typeface="Aptos"/>
              </a:rPr>
              <a:t>Standardized fields &amp; blanks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554480"/>
            <a:ext cx="1965960" cy="1828800"/>
          </a:xfrm>
          <a:prstGeom prst="roundRect">
            <a:avLst/>
          </a:prstGeom>
          <a:solidFill>
            <a:srgbClr val="0E416B"/>
          </a:solidFill>
          <a:ln>
            <a:solidFill>
              <a:srgbClr val="766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21808" y="1673352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7667E8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808" y="2057400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514600"/>
            <a:ext cx="16002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BBD0E3"/>
                </a:solidFill>
                <a:latin typeface="Aptos"/>
              </a:rPr>
              <a:t>Calculated KPI metrics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554480"/>
            <a:ext cx="1965960" cy="1828800"/>
          </a:xfrm>
          <a:prstGeom prst="roundRect">
            <a:avLst/>
          </a:prstGeom>
          <a:solidFill>
            <a:srgbClr val="0E416B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7807" y="1673352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28C28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7" y="2057400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ANALYZE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59" y="2514600"/>
            <a:ext cx="16002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BBD0E3"/>
                </a:solidFill>
                <a:latin typeface="Aptos"/>
              </a:rPr>
              <a:t>PivotTables &amp; PivotCharts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1554480"/>
            <a:ext cx="1965960" cy="1828800"/>
          </a:xfrm>
          <a:prstGeom prst="roundRect">
            <a:avLst/>
          </a:prstGeom>
          <a:solidFill>
            <a:srgbClr val="0E416B"/>
          </a:solidFill>
          <a:ln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93807" y="1673352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8B7A0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93807" y="2057400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PRESENT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59" y="2514600"/>
            <a:ext cx="16002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BBD0E3"/>
                </a:solidFill>
                <a:latin typeface="Aptos"/>
              </a:rPr>
              <a:t>Interactive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977639"/>
            <a:ext cx="10424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Dataset shown in the dashboard: 10 store records.</a:t>
            </a:r>
          </a:p>
          <a:p>
            <a:pPr>
              <a:spcAft>
                <a:spcPts val="9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Core fields: store ID, store name, pincode, opened date, sqft, monthly rent, staff count, cold-storage capacity and city.</a:t>
            </a:r>
          </a:p>
          <a:p>
            <a:pPr>
              <a:spcAft>
                <a:spcPts val="9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Interactive filtering is provided through the Store slicer.</a:t>
            </a:r>
          </a:p>
          <a:p>
            <a:pPr>
              <a:spcAft>
                <a:spcPts val="9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The opened-date Timeline was left out after Excel could not create it reliably; the dashboard continues using the store slicer.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BBD0E3"/>
                </a:solidFill>
                <a:latin typeface="Aptos"/>
              </a:rPr>
              <a:t>DARK STORE ANALYTICS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Executive KPI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BBD0E3"/>
                </a:solidFill>
                <a:latin typeface="Aptos"/>
              </a:rPr>
              <a:t>Headline metrics from the completed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3429000" cy="1508760"/>
          </a:xfrm>
          <a:prstGeom prst="roundRect">
            <a:avLst/>
          </a:prstGeom>
          <a:solidFill>
            <a:srgbClr val="0E416B"/>
          </a:solidFill>
          <a:ln w="1905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18488"/>
            <a:ext cx="3154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TOTAL STORES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47672"/>
            <a:ext cx="31546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18B7A0"/>
                </a:solidFill>
                <a:latin typeface="Aptos Display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508760"/>
            <a:ext cx="3429000" cy="1508760"/>
          </a:xfrm>
          <a:prstGeom prst="roundRect">
            <a:avLst/>
          </a:prstGeom>
          <a:solidFill>
            <a:srgbClr val="0E416B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18488"/>
            <a:ext cx="3154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TOTAL MONTHLY 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947672"/>
            <a:ext cx="31546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F28C28"/>
                </a:solidFill>
                <a:latin typeface="Aptos Display"/>
              </a:rPr>
              <a:t>₹1,738,000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508760"/>
            <a:ext cx="3429000" cy="1508760"/>
          </a:xfrm>
          <a:prstGeom prst="roundRect">
            <a:avLst/>
          </a:prstGeom>
          <a:solidFill>
            <a:srgbClr val="0E416B"/>
          </a:solidFill>
          <a:ln w="19050">
            <a:solidFill>
              <a:srgbClr val="2F8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618488"/>
            <a:ext cx="3154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TOTAL STORE AREA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947672"/>
            <a:ext cx="31546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2F8EF3"/>
                </a:solidFill>
                <a:latin typeface="Aptos Display"/>
              </a:rPr>
              <a:t>20,400 sqft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66160"/>
            <a:ext cx="3429000" cy="1508760"/>
          </a:xfrm>
          <a:prstGeom prst="roundRect">
            <a:avLst/>
          </a:prstGeom>
          <a:solidFill>
            <a:srgbClr val="0E416B"/>
          </a:solidFill>
          <a:ln w="19050">
            <a:solidFill>
              <a:srgbClr val="766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75887"/>
            <a:ext cx="3154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TOTAL STAFF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05072"/>
            <a:ext cx="31546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7667E8"/>
                </a:solidFill>
                <a:latin typeface="Aptos Display"/>
              </a:rPr>
              <a:t>118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566160"/>
            <a:ext cx="3429000" cy="1508760"/>
          </a:xfrm>
          <a:prstGeom prst="roundRect">
            <a:avLst/>
          </a:prstGeom>
          <a:solidFill>
            <a:srgbClr val="0E416B"/>
          </a:solidFill>
          <a:ln w="19050">
            <a:solidFill>
              <a:srgbClr val="D6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75887"/>
            <a:ext cx="3154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TOTAL COLD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005072"/>
            <a:ext cx="31546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D64D78"/>
                </a:solidFill>
                <a:latin typeface="Aptos Display"/>
              </a:rPr>
              <a:t>7,690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3566160"/>
            <a:ext cx="3429000" cy="1508760"/>
          </a:xfrm>
          <a:prstGeom prst="roundRect">
            <a:avLst/>
          </a:prstGeom>
          <a:solidFill>
            <a:srgbClr val="0E416B"/>
          </a:solidFill>
          <a:ln w="19050">
            <a:solidFill>
              <a:srgbClr val="18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675887"/>
            <a:ext cx="3154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AVG STORE SIZE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005072"/>
            <a:ext cx="31546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18C8D8"/>
                </a:solidFill>
                <a:latin typeface="Aptos Display"/>
              </a:rPr>
              <a:t>2,040 sqft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06440"/>
            <a:ext cx="10515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BBD0E3"/>
                </a:solidFill>
                <a:latin typeface="Aptos"/>
              </a:rPr>
              <a:t>These KPIs form the executive summary layer of the Excel dashboard.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BBD0E3"/>
                </a:solidFill>
                <a:latin typeface="Aptos"/>
              </a:rPr>
              <a:t>DARK STORE ANALYTICS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Monthly Rent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BBD0E3"/>
                </a:solidFill>
                <a:latin typeface="Aptos"/>
              </a:rPr>
              <a:t>Store-by-store comparison of monthly operating rent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1234440"/>
          <a:ext cx="7406640" cy="4800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183879" y="1371600"/>
            <a:ext cx="3429000" cy="4480560"/>
          </a:xfrm>
          <a:prstGeom prst="roundRect">
            <a:avLst/>
          </a:prstGeom>
          <a:solidFill>
            <a:srgbClr val="0E416B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627632"/>
            <a:ext cx="2971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28C28"/>
                </a:solidFill>
                <a:latin typeface="Aptos"/>
              </a:rPr>
              <a:t>WHAT THE DATA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2148840"/>
            <a:ext cx="269748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Highest rent
Sector 44 Metro
₹228,000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3383280"/>
            <a:ext cx="269748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Lowest rent
Sector 104 Gardens
₹146,000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4709160"/>
            <a:ext cx="2697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8C8D8"/>
                </a:solidFill>
                <a:latin typeface="Aptos"/>
              </a:rPr>
              <a:t>Average rent
₹173,800 /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BBD0E3"/>
                </a:solidFill>
                <a:latin typeface="Aptos"/>
              </a:rPr>
              <a:t>DARK STORE ANALYTICS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Capacity &amp; Staffing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BBD0E3"/>
                </a:solidFill>
                <a:latin typeface="Aptos"/>
              </a:rPr>
              <a:t>Operational resources across the store network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1234440"/>
          <a:ext cx="548640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234440"/>
          <a:ext cx="5440680" cy="4526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0">
                <a:solidFill>
                  <a:srgbClr val="BBD0E3"/>
                </a:solidFill>
                <a:latin typeface="Aptos"/>
              </a:rPr>
              <a:t>Network totals: 7,690 cold-storage units • 118 nonblank staff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BBD0E3"/>
                </a:solidFill>
                <a:latin typeface="Aptos"/>
              </a:rPr>
              <a:t>DARK STORE ANALYTICS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Store-Level Efficiency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BBD0E3"/>
                </a:solidFill>
                <a:latin typeface="Aptos"/>
              </a:rPr>
              <a:t>Rent per square foot highlights differences in space cost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1234440"/>
          <a:ext cx="7406640" cy="4800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183879" y="1371600"/>
            <a:ext cx="3429000" cy="4480560"/>
          </a:xfrm>
          <a:prstGeom prst="roundRect">
            <a:avLst/>
          </a:prstGeom>
          <a:solidFill>
            <a:srgbClr val="0E416B"/>
          </a:solidFill>
          <a:ln>
            <a:solidFill>
              <a:srgbClr val="D6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627632"/>
            <a:ext cx="2971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D64D78"/>
                </a:solidFill>
                <a:latin typeface="Aptos"/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2148840"/>
            <a:ext cx="2697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Rent / Sqft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880360"/>
            <a:ext cx="269748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Highest observed
Sector 76 Central
₹100.56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4160520"/>
            <a:ext cx="269748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Lowest observed
Noida Extension North
₹68.70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BBD0E3"/>
                </a:solidFill>
                <a:latin typeface="Aptos"/>
              </a:rPr>
              <a:t>DARK STORE ANALYTICS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Interactive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BBD0E3"/>
                </a:solidFill>
                <a:latin typeface="Aptos"/>
              </a:rPr>
              <a:t>How the final Excel dashboard is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55680" cy="4892040"/>
          </a:xfrm>
          <a:prstGeom prst="roundRect">
            <a:avLst/>
          </a:prstGeom>
          <a:solidFill>
            <a:srgbClr val="0A3157"/>
          </a:solidFill>
          <a:ln>
            <a:solidFill>
              <a:srgbClr val="2F8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44752"/>
            <a:ext cx="67665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DARK STORE PERFORMANCE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1828800" cy="960120"/>
          </a:xfrm>
          <a:prstGeom prst="roundRect">
            <a:avLst/>
          </a:prstGeom>
          <a:solidFill>
            <a:srgbClr val="0E416B"/>
          </a:solidFill>
          <a:ln w="19050"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21408"/>
            <a:ext cx="1554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Stores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50592"/>
            <a:ext cx="1554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18B7A0"/>
                </a:solidFill>
                <a:latin typeface="Aptos Display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011680"/>
            <a:ext cx="1828800" cy="960120"/>
          </a:xfrm>
          <a:prstGeom prst="roundRect">
            <a:avLst/>
          </a:prstGeom>
          <a:solidFill>
            <a:srgbClr val="0E416B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121408"/>
            <a:ext cx="1554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450592"/>
            <a:ext cx="1554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F28C28"/>
                </a:solidFill>
                <a:latin typeface="Aptos Display"/>
              </a:rPr>
              <a:t>₹17.4L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2011680"/>
            <a:ext cx="1828800" cy="960120"/>
          </a:xfrm>
          <a:prstGeom prst="roundRect">
            <a:avLst/>
          </a:prstGeom>
          <a:solidFill>
            <a:srgbClr val="0E416B"/>
          </a:solidFill>
          <a:ln w="19050">
            <a:solidFill>
              <a:srgbClr val="2F8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2121408"/>
            <a:ext cx="1554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Area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450592"/>
            <a:ext cx="1554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2F8EF3"/>
                </a:solidFill>
                <a:latin typeface="Aptos Display"/>
              </a:rPr>
              <a:t>20.4K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011680"/>
            <a:ext cx="1828800" cy="960120"/>
          </a:xfrm>
          <a:prstGeom prst="roundRect">
            <a:avLst/>
          </a:prstGeom>
          <a:solidFill>
            <a:srgbClr val="0E416B"/>
          </a:solidFill>
          <a:ln w="19050">
            <a:solidFill>
              <a:srgbClr val="766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2121408"/>
            <a:ext cx="1554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Staff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450592"/>
            <a:ext cx="1554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7667E8"/>
                </a:solidFill>
                <a:latin typeface="Aptos Display"/>
              </a:rPr>
              <a:t>118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2011680"/>
            <a:ext cx="1828800" cy="960120"/>
          </a:xfrm>
          <a:prstGeom prst="roundRect">
            <a:avLst/>
          </a:prstGeom>
          <a:solidFill>
            <a:srgbClr val="0E416B"/>
          </a:solidFill>
          <a:ln w="19050">
            <a:solidFill>
              <a:srgbClr val="D6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121408"/>
            <a:ext cx="1554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Cold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450592"/>
            <a:ext cx="1554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D64D78"/>
                </a:solidFill>
                <a:latin typeface="Aptos Display"/>
              </a:rPr>
              <a:t>7690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337560"/>
            <a:ext cx="5166360" cy="987552"/>
          </a:xfrm>
          <a:prstGeom prst="roundRect">
            <a:avLst/>
          </a:prstGeom>
          <a:solidFill>
            <a:srgbClr val="0E416B"/>
          </a:solidFill>
          <a:ln>
            <a:solidFill>
              <a:srgbClr val="18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3465576"/>
            <a:ext cx="1645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18C8D8"/>
                </a:solidFill>
                <a:latin typeface="Aptos"/>
              </a:rPr>
              <a:t>STORE SLICER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3447288"/>
            <a:ext cx="30632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"/>
              </a:rPr>
              <a:t>Filter charts and metrics by individual store.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337560"/>
            <a:ext cx="5166360" cy="987552"/>
          </a:xfrm>
          <a:prstGeom prst="roundRect">
            <a:avLst/>
          </a:prstGeom>
          <a:solidFill>
            <a:srgbClr val="0E416B"/>
          </a:solidFill>
          <a:ln>
            <a:solidFill>
              <a:srgbClr val="766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1" y="3465576"/>
            <a:ext cx="1645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7667E8"/>
                </a:solidFill>
                <a:latin typeface="Aptos"/>
              </a:rPr>
              <a:t>PIVOTTABLES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3447288"/>
            <a:ext cx="30632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"/>
              </a:rPr>
              <a:t>KPI calculations and store-level summaries.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572000"/>
            <a:ext cx="5166360" cy="987552"/>
          </a:xfrm>
          <a:prstGeom prst="roundRect">
            <a:avLst/>
          </a:prstGeom>
          <a:solidFill>
            <a:srgbClr val="0E416B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" y="4700016"/>
            <a:ext cx="1645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F28C28"/>
                </a:solidFill>
                <a:latin typeface="Aptos"/>
              </a:rPr>
              <a:t>PIVOTCHARTS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4681728"/>
            <a:ext cx="30632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"/>
              </a:rPr>
              <a:t>Rent, area, staffing and storage comparisons.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572000"/>
            <a:ext cx="5166360" cy="987552"/>
          </a:xfrm>
          <a:prstGeom prst="roundRect">
            <a:avLst/>
          </a:prstGeom>
          <a:solidFill>
            <a:srgbClr val="0E416B"/>
          </a:solidFill>
          <a:ln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1" y="4700016"/>
            <a:ext cx="1645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18B7A0"/>
                </a:solidFill>
                <a:latin typeface="Aptos"/>
              </a:rPr>
              <a:t>EXECUTIVE 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9" y="4681728"/>
            <a:ext cx="30632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"/>
              </a:rPr>
              <a:t>High-contrast dark theme for quick scanning.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BBD0E3"/>
                </a:solidFill>
                <a:latin typeface="Aptos"/>
              </a:rPr>
              <a:t>DARK STORE ANALYTICS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BBD0E3"/>
                </a:solidFill>
                <a:latin typeface="Aptos"/>
              </a:rPr>
              <a:t>What the dashboard enables a reviewer to see quickly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57800" cy="1143000"/>
          </a:xfrm>
          <a:prstGeom prst="roundRect">
            <a:avLst/>
          </a:prstGeom>
          <a:solidFill>
            <a:srgbClr val="0E416B"/>
          </a:solidFill>
          <a:ln>
            <a:solidFill>
              <a:srgbClr val="18B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8B7A0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45336"/>
            <a:ext cx="43891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The network contains 10 store records with total monthly rent of ₹1,738,000.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5257800" cy="1143000"/>
          </a:xfrm>
          <a:prstGeom prst="roundRect">
            <a:avLst/>
          </a:prstGeom>
          <a:solidFill>
            <a:srgbClr val="0E416B"/>
          </a:solidFill>
          <a:ln>
            <a:solidFill>
              <a:srgbClr val="18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8C8D8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1545336"/>
            <a:ext cx="43891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Total store area is 20,400 sqft, with an average of 2,040 sqft per store.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26080"/>
            <a:ext cx="5257800" cy="1143000"/>
          </a:xfrm>
          <a:prstGeom prst="roundRect">
            <a:avLst/>
          </a:prstGeom>
          <a:solidFill>
            <a:srgbClr val="0E416B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28C28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054096"/>
            <a:ext cx="43891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Recorded staff totals 118; one source staff value is blank, so the KPI excludes that missing value.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926080"/>
            <a:ext cx="5257800" cy="1143000"/>
          </a:xfrm>
          <a:prstGeom prst="roundRect">
            <a:avLst/>
          </a:prstGeom>
          <a:solidFill>
            <a:srgbClr val="0E416B"/>
          </a:solidFill>
          <a:ln>
            <a:solidFill>
              <a:srgbClr val="766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10896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7667E8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054096"/>
            <a:ext cx="43891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Total cold-storage capacity is 7,690.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434840"/>
            <a:ext cx="5257800" cy="1143000"/>
          </a:xfrm>
          <a:prstGeom prst="roundRect">
            <a:avLst/>
          </a:prstGeom>
          <a:solidFill>
            <a:srgbClr val="0E416B"/>
          </a:solidFill>
          <a:ln>
            <a:solidFill>
              <a:srgbClr val="D6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6177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D64D78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562855"/>
            <a:ext cx="43891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Rent-per-sqft provides a normalized comparison when store sizes differ.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434840"/>
            <a:ext cx="5257800" cy="1143000"/>
          </a:xfrm>
          <a:prstGeom prst="roundRect">
            <a:avLst/>
          </a:prstGeom>
          <a:solidFill>
            <a:srgbClr val="0E416B"/>
          </a:solidFill>
          <a:ln>
            <a:solidFill>
              <a:srgbClr val="2F8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6177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2F8EF3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4562855"/>
            <a:ext cx="43891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The dashboard combines KPI cards, charts and a store slicer for interactive exploration.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BBD0E3"/>
                </a:solidFill>
                <a:latin typeface="Aptos"/>
              </a:rPr>
              <a:t>DARK STORE ANALYTICS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508760"/>
            <a:ext cx="10789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ptos Display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331720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18C8D8"/>
                </a:solidFill>
                <a:latin typeface="Aptos"/>
              </a:rPr>
              <a:t>Dark Store Performance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26080"/>
            <a:ext cx="10789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BBD0E3"/>
                </a:solidFill>
                <a:latin typeface="Aptos"/>
              </a:rPr>
              <a:t>Excel • PivotTables • PivotCharts • Interactive Store Slicer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3977639"/>
            <a:ext cx="1051560" cy="109728"/>
          </a:xfrm>
          <a:prstGeom prst="roundRect">
            <a:avLst/>
          </a:prstGeom>
          <a:solidFill>
            <a:srgbClr val="18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0" y="3977639"/>
            <a:ext cx="1051560" cy="109728"/>
          </a:xfrm>
          <a:prstGeom prst="roundRect">
            <a:avLst/>
          </a:prstGeom>
          <a:solidFill>
            <a:srgbClr val="18C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0" y="3977639"/>
            <a:ext cx="1051560" cy="109728"/>
          </a:xfrm>
          <a:prstGeom prst="roundRect">
            <a:avLst/>
          </a:prstGeom>
          <a:solidFill>
            <a:srgbClr val="766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0" y="3977639"/>
            <a:ext cx="1051560" cy="109728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0" y="3977639"/>
            <a:ext cx="1051560" cy="109728"/>
          </a:xfrm>
          <a:prstGeom prst="roundRect">
            <a:avLst/>
          </a:prstGeom>
          <a:solidFill>
            <a:srgbClr val="D64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754880"/>
            <a:ext cx="10789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Questions &amp;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BBD0E3"/>
                </a:solidFill>
                <a:latin typeface="Aptos"/>
              </a:rPr>
              <a:t>DARK STORE ANALYTICS  •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